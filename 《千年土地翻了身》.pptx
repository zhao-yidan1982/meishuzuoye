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0" r:id="rId1"/>
  </p:sldMasterIdLst>
  <p:notesMasterIdLst>
    <p:notesMasterId r:id="rId7"/>
  </p:notesMasterIdLst>
  <p:sldIdLst>
    <p:sldId id="257" r:id="rId2"/>
    <p:sldId id="256" r:id="rId3"/>
    <p:sldId id="261" r:id="rId4"/>
    <p:sldId id="260" r:id="rId5"/>
    <p:sldId id="259" r:id="rId6"/>
  </p:sldIdLst>
  <p:sldSz cx="12192000" cy="6858000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556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45FA3-1078-4D74-B7B3-0078D2A76715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663539-D09A-4CC5-B1DC-A96ED30FCB9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0204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83049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0242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9286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5675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1919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10753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63871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012211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7300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755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708460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01503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言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2868165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或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3439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841668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15052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698500" y="1402439"/>
            <a:ext cx="6775416" cy="2475461"/>
          </a:xfrm>
          <a:prstGeom prst="rect">
            <a:avLst/>
          </a:prstGeom>
          <a:noFill/>
        </p:spPr>
        <p:txBody>
          <a:bodyPr wrap="square" anchor="b">
            <a:noAutofit/>
          </a:bodyPr>
          <a:lstStyle>
            <a:lvl1pPr algn="l">
              <a:lnSpc>
                <a:spcPct val="100000"/>
              </a:lnSpc>
              <a:defRPr sz="54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698499" y="3929598"/>
            <a:ext cx="6775416" cy="460043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vert="horz" wrap="square" lIns="91440" tIns="45720" rIns="91440" bIns="45720" rtlCol="0"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lang="en-US" sz="16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698500" y="5708846"/>
            <a:ext cx="1908483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3134419" y="5708846"/>
            <a:ext cx="1955527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www.officeplus.cn</a:t>
            </a:r>
          </a:p>
        </p:txBody>
      </p:sp>
    </p:spTree>
    <p:extLst>
      <p:ext uri="{BB962C8B-B14F-4D97-AF65-F5344CB8AC3E}">
        <p14:creationId xmlns:p14="http://schemas.microsoft.com/office/powerpoint/2010/main" val="38531284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630E7-C84E-4D70-B1C7-D0217A0ED382}" type="datetimeFigureOut">
              <a:rPr lang="zh-CN" altLang="en-US" smtClean="0"/>
              <a:t>2026/9/12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B2053DC0-3702-4EDE-87D7-B425B775B7B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61012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9F0A0B-83D5-7A54-CC11-54FCFB5C23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94228" y="1052805"/>
            <a:ext cx="6324092" cy="1308436"/>
          </a:xfrm>
        </p:spPr>
        <p:txBody>
          <a:bodyPr/>
          <a:lstStyle/>
          <a:p>
            <a:r>
              <a:rPr lang="en-US" altLang="zh-CN" dirty="0">
                <a:latin typeface="方正文沁永乐大典体M" panose="02010600010101010101" pitchFamily="2" charset="-122"/>
                <a:ea typeface="方正文沁永乐大典体M" panose="02010600010101010101" pitchFamily="2" charset="-122"/>
              </a:rPr>
              <a:t>《</a:t>
            </a:r>
            <a:r>
              <a:rPr lang="zh-CN" altLang="en-US" dirty="0">
                <a:latin typeface="方正文沁永乐大典体M" panose="02010600010101010101" pitchFamily="2" charset="-122"/>
                <a:ea typeface="方正文沁永乐大典体M" panose="02010600010101010101" pitchFamily="2" charset="-122"/>
              </a:rPr>
              <a:t>千年土地翻了身</a:t>
            </a:r>
            <a:r>
              <a:rPr lang="en-US" altLang="zh-CN" dirty="0">
                <a:latin typeface="方正文沁永乐大典体M" panose="02010600010101010101" pitchFamily="2" charset="-122"/>
                <a:ea typeface="方正文沁永乐大典体M" panose="02010600010101010101" pitchFamily="2" charset="-122"/>
              </a:rPr>
              <a:t>》</a:t>
            </a:r>
            <a:endParaRPr lang="zh-CN" altLang="en-US" dirty="0">
              <a:latin typeface="方正文沁永乐大典体M" panose="02010600010101010101" pitchFamily="2" charset="-122"/>
              <a:ea typeface="方正文沁永乐大典体M" panose="02010600010101010101" pitchFamily="2" charset="-122"/>
            </a:endParaRP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963EDFF-3370-7E48-D9B1-77705F8F83CB}"/>
              </a:ext>
            </a:extLst>
          </p:cNvPr>
          <p:cNvSpPr>
            <a:spLocks noGrp="1"/>
          </p:cNvSpPr>
          <p:nvPr>
            <p:ph type="subTitle" sz="quarter" idx="1"/>
          </p:nvPr>
        </p:nvSpPr>
        <p:spPr>
          <a:xfrm>
            <a:off x="7509402" y="2265050"/>
            <a:ext cx="1441197" cy="746380"/>
          </a:xfrm>
        </p:spPr>
        <p:txBody>
          <a:bodyPr/>
          <a:lstStyle/>
          <a:p>
            <a:r>
              <a:rPr lang="zh-CN" altLang="en-US" sz="2400" dirty="0">
                <a:latin typeface="维多利亚复古宋体" panose="02010600010101010101" pitchFamily="2" charset="-122"/>
                <a:ea typeface="维多利亚复古宋体" panose="02010600010101010101" pitchFamily="2" charset="-122"/>
              </a:rPr>
              <a:t>董希文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96D92A72-55E9-D143-7665-37BCD8A289D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283517" y="2361241"/>
            <a:ext cx="1908483" cy="276999"/>
          </a:xfrm>
        </p:spPr>
        <p:txBody>
          <a:bodyPr/>
          <a:lstStyle/>
          <a:p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3D1AD4-5579-E4FD-BA72-2E79B9B68F9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0742227" y="2588273"/>
            <a:ext cx="1955527" cy="276999"/>
          </a:xfrm>
        </p:spPr>
        <p:txBody>
          <a:bodyPr/>
          <a:lstStyle/>
          <a:p>
            <a:r>
              <a:rPr lang="en-US" altLang="zh-CN" dirty="0"/>
              <a:t>.</a:t>
            </a:r>
            <a:endParaRPr lang="zh-CN" altLang="en-US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AA221EC3-813F-F1A6-2449-DED08171C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6755" y="2726772"/>
            <a:ext cx="6278489" cy="3397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2984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:blinds dir="vert"/>
      </p:transition>
    </mc:Choice>
    <mc:Fallback xmlns="">
      <p:transition spd="slow">
        <p:blinds dir="vert"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8D330A94-7EC9-A925-6D44-63EE142E5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1198" y="34283"/>
            <a:ext cx="3725579" cy="1280890"/>
          </a:xfrm>
        </p:spPr>
        <p:txBody>
          <a:bodyPr>
            <a:noAutofit/>
          </a:bodyPr>
          <a:lstStyle/>
          <a:p>
            <a:r>
              <a:rPr lang="zh-CN" altLang="en-US" sz="6000" dirty="0"/>
              <a:t>     目录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F9BA44E-2F70-F732-D4A7-65E1321BC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79902" y="1863724"/>
            <a:ext cx="4213781" cy="590278"/>
          </a:xfrm>
        </p:spPr>
        <p:txBody>
          <a:bodyPr/>
          <a:lstStyle/>
          <a:p>
            <a:pPr algn="r"/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内容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1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图片简介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48DFCDA6-A7B0-5FBE-B8C9-706146AD64E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493683" y="3369225"/>
            <a:ext cx="4213781" cy="715404"/>
          </a:xfrm>
        </p:spPr>
        <p:txBody>
          <a:bodyPr/>
          <a:lstStyle/>
          <a:p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内容</a:t>
            </a:r>
            <a:r>
              <a:rPr lang="en-US" altLang="zh-CN" dirty="0">
                <a:latin typeface="楷体" panose="02010609060101010101" pitchFamily="49" charset="-122"/>
                <a:ea typeface="楷体" panose="02010609060101010101" pitchFamily="49" charset="-122"/>
              </a:rPr>
              <a:t>2 </a:t>
            </a:r>
            <a:r>
              <a:rPr lang="zh-CN" altLang="en-US" dirty="0">
                <a:latin typeface="楷体" panose="02010609060101010101" pitchFamily="49" charset="-122"/>
                <a:ea typeface="楷体" panose="02010609060101010101" pitchFamily="49" charset="-122"/>
              </a:rPr>
              <a:t>内容演绎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39F1AA8E-74EF-6A4E-7189-3A5B8F266C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1279900" y="4999853"/>
            <a:ext cx="4213783" cy="715404"/>
          </a:xfrm>
        </p:spPr>
        <p:txBody>
          <a:bodyPr>
            <a:normAutofit/>
          </a:bodyPr>
          <a:lstStyle/>
          <a:p>
            <a:pPr marL="0" indent="0" algn="r">
              <a:buNone/>
            </a:pP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</a:rPr>
              <a:t>内容</a:t>
            </a:r>
            <a:r>
              <a:rPr lang="en-US" altLang="zh-CN" sz="2400" dirty="0">
                <a:latin typeface="楷体" panose="02010609060101010101" pitchFamily="49" charset="-122"/>
                <a:ea typeface="楷体" panose="02010609060101010101" pitchFamily="49" charset="-122"/>
              </a:rPr>
              <a:t>3 </a:t>
            </a:r>
            <a:r>
              <a:rPr lang="zh-CN" altLang="en-US" sz="2400" dirty="0">
                <a:latin typeface="楷体" panose="02010609060101010101" pitchFamily="49" charset="-122"/>
                <a:ea typeface="楷体" panose="02010609060101010101" pitchFamily="49" charset="-122"/>
              </a:rPr>
              <a:t>分工与鸣谢</a:t>
            </a:r>
          </a:p>
        </p:txBody>
      </p:sp>
    </p:spTree>
    <p:extLst>
      <p:ext uri="{BB962C8B-B14F-4D97-AF65-F5344CB8AC3E}">
        <p14:creationId xmlns:p14="http://schemas.microsoft.com/office/powerpoint/2010/main" val="4121852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内容占位符 4">
            <a:extLst>
              <a:ext uri="{FF2B5EF4-FFF2-40B4-BE49-F238E27FC236}">
                <a16:creationId xmlns:a16="http://schemas.microsoft.com/office/drawing/2014/main" id="{F1F10959-072B-9998-0FDE-18AD6267E9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689445"/>
            <a:ext cx="5056405" cy="2739555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821492F8-6AA1-D18F-8F82-A88EB1720CCC}"/>
              </a:ext>
            </a:extLst>
          </p:cNvPr>
          <p:cNvSpPr txBox="1"/>
          <p:nvPr/>
        </p:nvSpPr>
        <p:spPr>
          <a:xfrm>
            <a:off x="1580719" y="3860231"/>
            <a:ext cx="10315908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800" dirty="0">
                <a:latin typeface="楷体" panose="02010609060101010101" pitchFamily="49" charset="-122"/>
                <a:ea typeface="楷体" panose="02010609060101010101" pitchFamily="49" charset="-122"/>
              </a:rPr>
              <a:t>这幅画代表新中国美术发展。董希文三进西藏写生，积累素材。他以朴素画风表现西藏农奴翻身做主，在土地上耕耘的喜悦。</a:t>
            </a:r>
          </a:p>
          <a:p>
            <a:r>
              <a:rPr lang="zh-CN" altLang="zh-CN" sz="2800" dirty="0">
                <a:latin typeface="楷体" panose="02010609060101010101" pitchFamily="49" charset="-122"/>
                <a:ea typeface="楷体" panose="02010609060101010101" pitchFamily="49" charset="-122"/>
              </a:rPr>
              <a:t>画面充满动感。人物后仰，牦牛奋蹄，笔触方向一致。雪山蓝天带来不一样的春天。</a:t>
            </a:r>
          </a:p>
          <a:p>
            <a:r>
              <a:rPr lang="zh-CN" altLang="zh-CN" sz="2800" dirty="0">
                <a:latin typeface="楷体" panose="02010609060101010101" pitchFamily="49" charset="-122"/>
                <a:ea typeface="楷体" panose="02010609060101010101" pitchFamily="49" charset="-122"/>
              </a:rPr>
              <a:t>对角线构图和桃红上衣与左下阴影对比。这表现出高原阳光，也表现出人物内心的激动喜悦。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8A55A1E2-AE62-3EE2-1327-0CF927CE7833}"/>
              </a:ext>
            </a:extLst>
          </p:cNvPr>
          <p:cNvSpPr txBox="1"/>
          <p:nvPr/>
        </p:nvSpPr>
        <p:spPr>
          <a:xfrm>
            <a:off x="235670" y="997393"/>
            <a:ext cx="5719181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latin typeface="楷体" panose="02010609060101010101" pitchFamily="49" charset="-122"/>
                <a:ea typeface="楷体" panose="02010609060101010101" pitchFamily="49" charset="-122"/>
              </a:rPr>
              <a:t>《</a:t>
            </a:r>
            <a:r>
              <a:rPr lang="zh-CN" altLang="zh-CN" sz="3600" dirty="0">
                <a:latin typeface="楷体" panose="02010609060101010101" pitchFamily="49" charset="-122"/>
                <a:ea typeface="楷体" panose="02010609060101010101" pitchFamily="49" charset="-122"/>
              </a:rPr>
              <a:t>千年土地翻了身》</a:t>
            </a:r>
            <a:endParaRPr lang="en-US" altLang="zh-CN" sz="3600" dirty="0">
              <a:latin typeface="楷体" panose="02010609060101010101" pitchFamily="49" charset="-122"/>
              <a:ea typeface="楷体" panose="02010609060101010101" pitchFamily="49" charset="-122"/>
            </a:endParaRPr>
          </a:p>
          <a:p>
            <a:r>
              <a:rPr lang="zh-CN" altLang="zh-CN" sz="3600" dirty="0">
                <a:latin typeface="楷体" panose="02010609060101010101" pitchFamily="49" charset="-122"/>
                <a:ea typeface="楷体" panose="02010609060101010101" pitchFamily="49" charset="-122"/>
              </a:rPr>
              <a:t>是董希文1963年油画，藏中国美术馆。</a:t>
            </a:r>
          </a:p>
          <a:p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23892997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77FF67A5-5561-865C-2DC8-2F112596DE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6193"/>
            <a:ext cx="12192000" cy="6605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66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7E1906-88E4-8131-68C3-97518B225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0618" y="3784861"/>
            <a:ext cx="11170763" cy="2832756"/>
          </a:xfrm>
        </p:spPr>
        <p:txBody>
          <a:bodyPr>
            <a:normAutofit fontScale="90000"/>
          </a:bodyPr>
          <a:lstStyle/>
          <a:p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1.感谢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美术教材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催生了这个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PPT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。</a:t>
            </a:r>
            <a:b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</a:br>
            <a: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2.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感谢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deepseek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提供了免费的文本编写服务。</a:t>
            </a:r>
            <a:b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</a:br>
            <a: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3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.感谢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千问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提供了免费的 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AI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 图片清晰度提升服务。</a:t>
            </a:r>
            <a:b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</a:br>
            <a: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4.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感谢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中国美术馆网站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提供了油画照片</a:t>
            </a:r>
            <a:b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</a:br>
            <a: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5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.感谢我们的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美术老师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让我们完成了这个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PPT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。</a:t>
            </a:r>
            <a:b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</a:br>
            <a:r>
              <a:rPr lang="en-US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6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.感谢你</a:t>
            </a:r>
            <a:r>
              <a:rPr lang="zh-CN" altLang="en-US" sz="3100" dirty="0">
                <a:latin typeface="楷体" panose="02010609060101010101" pitchFamily="49" charset="-122"/>
                <a:ea typeface="楷体" panose="02010609060101010101" pitchFamily="49" charset="-122"/>
              </a:rPr>
              <a:t>的观看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——让这个</a:t>
            </a:r>
            <a:r>
              <a:rPr lang="zh-CN" altLang="zh-CN" sz="3100" dirty="0">
                <a:highlight>
                  <a:srgbClr val="00FFFF"/>
                </a:highlight>
                <a:latin typeface="楷体" panose="02010609060101010101" pitchFamily="49" charset="-122"/>
                <a:ea typeface="楷体" panose="02010609060101010101" pitchFamily="49" charset="-122"/>
              </a:rPr>
              <a:t>PPT</a:t>
            </a:r>
            <a:r>
              <a:rPr lang="zh-CN" altLang="zh-CN" sz="3100" dirty="0">
                <a:latin typeface="楷体" panose="02010609060101010101" pitchFamily="49" charset="-122"/>
                <a:ea typeface="楷体" panose="02010609060101010101" pitchFamily="49" charset="-122"/>
              </a:rPr>
              <a:t>有了存在的意义。</a:t>
            </a:r>
            <a:br>
              <a:rPr lang="zh-CN" altLang="zh-CN" sz="2800" dirty="0"/>
            </a:br>
            <a:endParaRPr lang="zh-CN" altLang="en-US" sz="2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5593A91-EA66-1E7A-5CE1-792CB333672E}"/>
              </a:ext>
            </a:extLst>
          </p:cNvPr>
          <p:cNvSpPr txBox="1"/>
          <p:nvPr/>
        </p:nvSpPr>
        <p:spPr>
          <a:xfrm>
            <a:off x="707009" y="2889337"/>
            <a:ext cx="1338606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4400" dirty="0"/>
              <a:t>鸣谢</a:t>
            </a: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4EB4B4EE-6909-4120-F07E-972070F12F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009" y="497679"/>
            <a:ext cx="2265575" cy="2265575"/>
          </a:xfrm>
          <a:prstGeom prst="rect">
            <a:avLst/>
          </a:prstGeom>
        </p:spPr>
      </p:pic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92FB4A29-44BA-AE6F-B596-77CF1F14AE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2033706"/>
              </p:ext>
            </p:extLst>
          </p:nvPr>
        </p:nvGraphicFramePr>
        <p:xfrm>
          <a:off x="5712644" y="424206"/>
          <a:ext cx="5772348" cy="374975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099">
                  <a:extLst>
                    <a:ext uri="{9D8B030D-6E8A-4147-A177-3AD203B41FA5}">
                      <a16:colId xmlns:a16="http://schemas.microsoft.com/office/drawing/2014/main" val="3679975910"/>
                    </a:ext>
                  </a:extLst>
                </a:gridCol>
                <a:gridCol w="4447249">
                  <a:extLst>
                    <a:ext uri="{9D8B030D-6E8A-4147-A177-3AD203B41FA5}">
                      <a16:colId xmlns:a16="http://schemas.microsoft.com/office/drawing/2014/main" val="1170341243"/>
                    </a:ext>
                  </a:extLst>
                </a:gridCol>
              </a:tblGrid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姓名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职能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3415894343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王语涵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旁白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2053225517"/>
                  </a:ext>
                </a:extLst>
              </a:tr>
              <a:tr h="407111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邵炜雅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旁白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1365528667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赵梓昊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演员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2981144449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王博然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演员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1790334079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张贺衍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ppt制作（3，4，5 页），演员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3068033332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郭柄君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演员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2846394497"/>
                  </a:ext>
                </a:extLst>
              </a:tr>
              <a:tr h="526684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刘安泽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ppt制作（1，2，6 页），ppt播放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19802490"/>
                  </a:ext>
                </a:extLst>
              </a:tr>
              <a:tr h="338486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姜昱言</a:t>
                      </a:r>
                      <a:endParaRPr lang="zh-CN" sz="2400" b="0" i="0" u="none" strike="noStrike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zh-CN" altLang="en-US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剧本、旁白</a:t>
                      </a:r>
                      <a:r>
                        <a:rPr lang="zh-CN" sz="2400" u="none" strike="noStrike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书</a:t>
                      </a:r>
                      <a:r>
                        <a:rPr lang="zh-CN" sz="2400" u="none" strike="noStrike" dirty="0">
                          <a:effectLst/>
                          <a:latin typeface="楷体" panose="02010609060101010101" pitchFamily="49" charset="-122"/>
                          <a:ea typeface="楷体" panose="02010609060101010101" pitchFamily="49" charset="-122"/>
                        </a:rPr>
                        <a:t>写</a:t>
                      </a:r>
                      <a:endParaRPr lang="zh-CN" sz="2400" b="0" i="0" u="none" strike="noStrike" dirty="0">
                        <a:solidFill>
                          <a:srgbClr val="000000"/>
                        </a:solidFill>
                        <a:effectLst/>
                        <a:latin typeface="楷体" panose="02010609060101010101" pitchFamily="49" charset="-122"/>
                        <a:ea typeface="楷体" panose="02010609060101010101" pitchFamily="49" charset="-122"/>
                      </a:endParaRPr>
                    </a:p>
                  </a:txBody>
                  <a:tcPr marL="6350" marR="6350" marT="6350" marB="0"/>
                </a:tc>
                <a:extLst>
                  <a:ext uri="{0D108BD9-81ED-4DB2-BD59-A6C34878D82A}">
                    <a16:rowId xmlns:a16="http://schemas.microsoft.com/office/drawing/2014/main" val="24192403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2557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PFI-MACHINEIDS" val="[&quot;7bddbe67ee58eff6cd2211d24bad03988f400076a587d925afda2dd130be6b60&quot;]"/>
  <p:tag name="OPFI-USERIDS" val="[&quot;06795e31-3ec9-90bf-9d17-3a1df0a4f7d2&quot;]"/>
  <p:tag name="OPFI" val="{&quot;ThemeFontContent-4512&quot;:{&quot;cnName&quot;:&quot;方正文沁永乐大典体M&quot;,&quot;enName&quot;:&quot;FZSJ-WENQYLDDTM&quot;,&quot;id&quot;:&quot;ThemeFontContent-4512&quot;,&quot;paymentType&quot;:0,&quot;isSystemFont&quot;:false,&quot;name&quot;:&quot;方正文沁永乐大典体M&quot;},&quot;ThemeFontContent-441&quot;:{&quot;cnName&quot;:&quot;维多利亚复古宋体&quot;,&quot;enName&quot;:&quot;FZSJ-WEIDLYFGST&quot;,&quot;id&quot;:&quot;ThemeFontContent-441&quot;,&quot;paymentType&quot;:0,&quot;isSystemFont&quot;:false,&quot;name&quot;:&quot;维多利亚复古宋体&quot;},&quot;ThemeFontContent-515&quot;:{&quot;cnName&quot;:&quot;方正姚体&quot;,&quot;enName&quot;:&quot;FZYaoTi&quot;,&quot;id&quot;:&quot;ThemeFontContent-515&quot;,&quot;paymentType&quot;:0,&quot;isSystemFont&quot;:true,&quot;name&quot;:&quot;方正姚体&quot;}}"/>
</p:tagLst>
</file>

<file path=ppt/theme/theme1.xml><?xml version="1.0" encoding="utf-8"?>
<a:theme xmlns:a="http://schemas.openxmlformats.org/drawingml/2006/main" name="丝状">
  <a:themeElements>
    <a:clrScheme name="丝状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丝状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丝状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106</TotalTime>
  <Words>419</Words>
  <Application>Microsoft Office PowerPoint</Application>
  <PresentationFormat>宽屏</PresentationFormat>
  <Paragraphs>33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3" baseType="lpstr">
      <vt:lpstr>等线</vt:lpstr>
      <vt:lpstr>方正文沁永乐大典体M</vt:lpstr>
      <vt:lpstr>楷体</vt:lpstr>
      <vt:lpstr>维多利亚复古宋体</vt:lpstr>
      <vt:lpstr>Arial</vt:lpstr>
      <vt:lpstr>Century Gothic</vt:lpstr>
      <vt:lpstr>Wingdings 3</vt:lpstr>
      <vt:lpstr>丝状</vt:lpstr>
      <vt:lpstr>《千年土地翻了身》</vt:lpstr>
      <vt:lpstr>     目录</vt:lpstr>
      <vt:lpstr>PowerPoint 演示文稿</vt:lpstr>
      <vt:lpstr>PowerPoint 演示文稿</vt:lpstr>
      <vt:lpstr>1.感谢美术教材催生了这个PPT。 2.感谢deepseek提供了免费的文本编写服务。 3.感谢千问提供了免费的 AI 图片清晰度提升服务。 4.感谢中国美术馆网站提供了油画照片 5.感谢我们的美术老师让我们完成了这个PPT。 6.感谢你的观看——让这个PPT有了存在的意义。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XIANGMEI ZHAO</dc:creator>
  <cp:lastModifiedBy>一丹 赵</cp:lastModifiedBy>
  <cp:revision>12</cp:revision>
  <dcterms:created xsi:type="dcterms:W3CDTF">2026-09-10T14:15:28Z</dcterms:created>
  <dcterms:modified xsi:type="dcterms:W3CDTF">2026-09-12T01:58:01Z</dcterms:modified>
</cp:coreProperties>
</file>